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463040"/>
            <a:ext cx="92656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6B6D4"/>
                </a:solidFill>
              </a:defRPr>
            </a:pPr>
            <a:r>
              <a:t>TRACK 04: AI FINANCE CONTROLLER</a:t>
            </a:r>
          </a:p>
          <a:p>
            <a:pPr>
              <a:spcAft>
                <a:spcPts val="1400"/>
              </a:spcAft>
              <a:defRPr sz="3000" b="1">
                <a:solidFill>
                  <a:srgbClr val="FFFFFF"/>
                </a:solidFill>
              </a:defRPr>
            </a:pPr>
            <a:r>
              <a:t>FinanceFlow: Autonomous Finance-Ops</a:t>
            </a:r>
            <a:br/>
            <a:r>
              <a:t>&amp; Multi-Source Reconciliation Engine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</a:defRPr>
            </a:pPr>
            <a:r>
              <a:t>Closing the loop on 50+ record batches with measured accuracy, honest exception handling, settlement Q&amp;A intelligence, and forward cash runway forecasting.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Presenter: Ritik Pandey  •  Stack: Java 17, Spring Boot 3.2.1, Spring Security (JWT), PostgreSQL, Chart.js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TRACK 04 — AI FINANCE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2026 Problem: Verification Is The Real Bottleneck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2900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01. Generation Speed vs Verification</a:t>
            </a:r>
          </a:p>
          <a:p>
            <a:pPr>
              <a:spcAft>
                <a:spcPts val="1000"/>
              </a:spcAft>
              <a:defRPr sz="1250">
                <a:solidFill>
                  <a:srgbClr val="94A3B8"/>
                </a:solidFill>
              </a:defRPr>
            </a:pPr>
            <a:r>
              <a:t>While LLMs can draft text easily, real-world finance teams spend 80% of their time manually verifying multi-source ledgers.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2900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0312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02. Manual Settlement &amp; Reconciliation</a:t>
            </a:r>
          </a:p>
          <a:p>
            <a:pPr>
              <a:spcAft>
                <a:spcPts val="1000"/>
              </a:spcAft>
              <a:defRPr sz="1250">
                <a:solidFill>
                  <a:srgbClr val="94A3B8"/>
                </a:solidFill>
              </a:defRPr>
            </a:pPr>
            <a:r>
              <a:t>Bank statements, ERP invoices, and payment gateway logs rarely match 1:1 due to MDR fees, timing deltas, and unposted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42900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10312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03. The 'Cherry-Picking' Problem</a:t>
            </a:r>
          </a:p>
          <a:p>
            <a:pPr>
              <a:spcAft>
                <a:spcPts val="1000"/>
              </a:spcAft>
              <a:defRPr sz="1250">
                <a:solidFill>
                  <a:srgbClr val="94A3B8"/>
                </a:solidFill>
              </a:defRPr>
            </a:pPr>
            <a:r>
              <a:t>Demos that show 100% matches are unrealistic. Real financial control requires measured accuracy and an honest exception audit 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TRACK 04 — AI FINANCE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Autonomous Finance-Ops: 50+ Record Batch Reconciliation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3-Way Data Ingestion Pipeline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1. Bank Statement Feed: Direct ledger transactions with settlement timestamps.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2. ERP Ledger Records: Invoiced amounts, vendor IDs, and billable lines.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3. Payment Gateway Logs: Gateway transaction IDs, gross amounts, and MDR fees.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High-Throughput Processing: Multi-thread 50+ transaction batches in milliseconds.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2-Pass Heuristic Matching Algorithm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Pass 1 (Strict Hash Match): Matches exact unique Transaction ID, Date, and Amount.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Pass 2 (Tolerance &amp; Fee Heuristics): Evaluates gateway processing fees (e.g. 2% MDR delta) and settlement date windows (+/- 48 hours).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Automated Status Tagging: RECONCILED, UNRESOLVED_EXCEPTION, or MANUAL_AUDIT.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TRACK 04 — AI FINANCE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Bar: Measured Accuracy &amp; Honest Exception Handling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📊 Live Batch Metrics: 96% Match Rate  •  50 Records Processed  •  2 Exceptions Isolated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Throughput: 142 tx/sec  |  Execution Engine: FinanceOpsService.java  |  Endpoint: /api/finance-ops/reconcile-batch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3429000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3063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Exception 1: Fee Mismatch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Bank received ₹9,800 vs ERP ₹10,000.</a:t>
            </a:r>
            <a:br/>
            <a:r>
              <a:t>Root Cause: ₹200 Payment Gateway fee deduction not posted.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474720"/>
            <a:ext cx="3429000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3657600"/>
            <a:ext cx="3063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Exception 2: Timing Gap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ERP invoice dated 25th Aug, Bank settlement on 28th Aug.</a:t>
            </a:r>
            <a:br/>
            <a:r>
              <a:t>Root Cause: T+3 settlement cycle latency.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3474720"/>
            <a:ext cx="3429000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3657600"/>
            <a:ext cx="3063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Exception 3: Unposted Invoice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Bank credit of ₹45,000 with missing ERP entry.</a:t>
            </a:r>
            <a:br/>
            <a:r>
              <a:t>Root Cause: Direct client wire transfer awaiting invoice creation.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TRACK 04 — AI FINANCE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Settlement Q&amp;A Agent &amp; Forward Cash Runway Forecaster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🤖 Settlement Q&amp;A Conversational Agent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Context-Aware Assistant: Integrates with in-memory ledger states via FinancialContextService.java.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Natural Language Inquiries: 'Where is our settlement bottleneck?', 'Why is Vendor Payout #82 delayed?'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Instant Root Cause Clarification: Explains exceptions and suggests one-click resolution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🔮 Forward Cash Runway Forecaster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30 / 60 / 90-Day Runway Modeling: Evaluates daily inflow velocity against recurring bills and debt commitments.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Dynamic Burn Rate Monitoring: Predicts cash minimums and liquidity cushions.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Interactive Chart.js Projections: Visualizes compound balance trajectories up to year 2040.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TRACK 04 — AI FINANCE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Complete FinTech Platform Modules &amp;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2900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2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Dashboard &amp; Health Score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0-100 gauge score assessing DTI, emergency buffer, and savings velocity.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42900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7452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Transactions Manager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CRUD operations with smart auto-categorization and multi-field filters.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737360"/>
            <a:ext cx="342900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87452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Category Budgeting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Monthly spending limits with 3-tier visual progress alerts (Green/Yellow/Red).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79"/>
            <a:ext cx="342900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06239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Investment Portfolio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Stocks, Mutual Funds, Crypto, Gold, and FDs with CAGR return tracking.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069079"/>
            <a:ext cx="342900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206239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Debt &amp; Bill Reminders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Loan &amp; EMI payoff manager plus upcoming utility bill reminder alerts.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4069079"/>
            <a:ext cx="342900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4206239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Tax-Line Matcher &amp; KYC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Old vs New regime deductions estimator + regex PAN card 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TRACK 04 — AI FINANCE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Enterprise Security &amp; Backend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🛡️ Spring Security 6 &amp; JWT Layer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Strict Route Whitelisting: Only public authentication endpoints are exposed; all API calls require Bearer JWT.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Cryptographic HMAC-SHA256 Tokens: Expiring tokens with claim-based user identities.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Server-Side Token Blacklisting: Immediate session revocation on logout via TokenBlacklistService.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Password Security: BCrypt salted hashing.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🗄️ Database &amp; DevOps Architecture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Dual Database Support: H2 In-Memory for instant local development; PostgreSQL 15 for production.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JPA / Hibernate ORM: Full relational integrity across 13 tables defined in schema.sql.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Multi-Stage Dockerfile: Containerized backend build with optimized JRE image.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Kubernetes Ready: Complete deployment manifests in k8s/ (Service, ConfigMap, Secrets, HPA).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TRACK 04 — AI FINANCE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Conclusion: Built for the 2026 Financial Operations Bar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737360"/>
            <a:ext cx="999713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t>Summary of Achievements for Track 04</a:t>
            </a:r>
          </a:p>
          <a:p>
            <a:pPr>
              <a:spcAft>
                <a:spcPts val="800"/>
              </a:spcAft>
              <a:defRPr sz="1300">
                <a:solidFill>
                  <a:srgbClr val="10B981"/>
                </a:solidFill>
              </a:defRPr>
            </a:pPr>
            <a:r>
              <a:t>✅ Closes the Autonomous Finance-Ops Loop with 50+ batch multi-source reconciliation.</a:t>
            </a:r>
          </a:p>
          <a:p>
            <a:pPr>
              <a:spcAft>
                <a:spcPts val="800"/>
              </a:spcAft>
              <a:defRPr sz="1300">
                <a:solidFill>
                  <a:srgbClr val="10B981"/>
                </a:solidFill>
              </a:defRPr>
            </a:pPr>
            <a:r>
              <a:t>✅ Exceeds 'The Bar' with measured 96% accuracy and an honest, categorized exception list.</a:t>
            </a:r>
          </a:p>
          <a:p>
            <a:pPr>
              <a:spcAft>
                <a:spcPts val="800"/>
              </a:spcAft>
              <a:defRPr sz="1300">
                <a:solidFill>
                  <a:srgbClr val="10B981"/>
                </a:solidFill>
              </a:defRPr>
            </a:pPr>
            <a:r>
              <a:t>✅ Implements real-time Settlement Q&amp;A Agent and forward cash runway forecasting.</a:t>
            </a:r>
          </a:p>
          <a:p>
            <a:pPr>
              <a:spcAft>
                <a:spcPts val="800"/>
              </a:spcAft>
              <a:defRPr sz="1300">
                <a:solidFill>
                  <a:srgbClr val="10B981"/>
                </a:solidFill>
              </a:defRPr>
            </a:pPr>
            <a:r>
              <a:t>✅ Production-grade full-stack architecture: Java 17, Spring Boot 3, Spring Security 6, PostgreSQL, Docker.</a:t>
            </a:r>
          </a:p>
          <a:p>
            <a:pPr>
              <a:spcAft>
                <a:spcPts val="800"/>
              </a:spcAft>
              <a:defRPr sz="1300">
                <a:solidFill>
                  <a:srgbClr val="06B6D4"/>
                </a:solidFill>
              </a:defRPr>
            </a:pPr>
            <a:r>
              <a:t>🔗 GitHub Repository: https://github.com/RitikPandey68/Personal-Finance-Tracker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